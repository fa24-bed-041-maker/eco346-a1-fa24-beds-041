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lus Jakarta Sans"/>
      <p:regular r:id="rId10"/>
      <p:bold r:id="rId11"/>
      <p:italic r:id="rId12"/>
      <p:boldItalic r:id="rId13"/>
    </p:embeddedFont>
    <p:embeddedFont>
      <p:font typeface="Space Grotesk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usJakartaSans-bold.fntdata"/><Relationship Id="rId10" Type="http://schemas.openxmlformats.org/officeDocument/2006/relationships/font" Target="fonts/PlusJakartaSans-regular.fntdata"/><Relationship Id="rId13" Type="http://schemas.openxmlformats.org/officeDocument/2006/relationships/font" Target="fonts/PlusJakartaSans-boldItalic.fntdata"/><Relationship Id="rId12" Type="http://schemas.openxmlformats.org/officeDocument/2006/relationships/font" Target="fonts/PlusJakarta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paceGrotesk-bold.fntdata"/><Relationship Id="rId14" Type="http://schemas.openxmlformats.org/officeDocument/2006/relationships/font" Target="fonts/SpaceGrotes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556260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609600"/>
            <a:ext cx="2395537" cy="323850"/>
          </a:xfrm>
          <a:prstGeom prst="roundRect">
            <a:avLst>
              <a:gd fmla="val 50000" name="adj"/>
            </a:avLst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556260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2647950" y="5838825"/>
            <a:ext cx="9525" cy="40957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4686300" y="5838825"/>
            <a:ext cx="9525" cy="40957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81050" y="685800"/>
            <a:ext cx="21478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ECO346 DATA VISUALIZATION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0763250" y="685800"/>
            <a:ext cx="11049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01 / 04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2235547"/>
            <a:ext cx="101203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Assignment 1 — Empirical Analysis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09600" y="2549872"/>
            <a:ext cx="8601075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PSLM 2019-20 Data Analysis: Punjab Urban Focus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09600" y="3879502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comprehensive socio-economic evaluation covering sampling parameters, data preprocessing, demographic literacy, and household economic welfare.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09600" y="5838825"/>
            <a:ext cx="21669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VARIANT FOCUS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09600" y="6029325"/>
            <a:ext cx="21669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Punjab Urban Subset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2962275" y="5838825"/>
            <a:ext cx="177403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REGISTRATION NO.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2962275" y="6029325"/>
            <a:ext cx="17740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FA24-BEDS-041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000625" y="5838825"/>
            <a:ext cx="35480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SOURCE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5000625" y="6029325"/>
            <a:ext cx="35480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Pakistan Bureau of Statistics (PBS)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/>
          <p:nvPr/>
        </p:nvSpPr>
        <p:spPr>
          <a:xfrm>
            <a:off x="609600" y="1438275"/>
            <a:ext cx="5314950" cy="4962525"/>
          </a:xfrm>
          <a:prstGeom prst="roundRect">
            <a:avLst>
              <a:gd fmla="val 230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267450" y="1438275"/>
            <a:ext cx="5314950" cy="4962525"/>
          </a:xfrm>
          <a:prstGeom prst="roundRect">
            <a:avLst>
              <a:gd fmla="val 230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847725" y="1685925"/>
            <a:ext cx="876300" cy="219075"/>
          </a:xfrm>
          <a:prstGeom prst="roundRect">
            <a:avLst>
              <a:gd fmla="val 26086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6505575" y="1685925"/>
            <a:ext cx="895350" cy="219075"/>
          </a:xfrm>
          <a:prstGeom prst="roundRect">
            <a:avLst>
              <a:gd fmla="val 26086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4352925"/>
            <a:ext cx="48387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5575" y="4352925"/>
            <a:ext cx="4838700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609600" y="457200"/>
            <a:ext cx="50673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01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0734675" y="661987"/>
            <a:ext cx="11334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02 / 04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09600" y="695325"/>
            <a:ext cx="65258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Dataset Isolation &amp; Data Preprocessing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42975" y="1724025"/>
            <a:ext cx="7810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 1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47725" y="1971675"/>
            <a:ext cx="63507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Dataset Isolation (Punjab Urban)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600825" y="1724025"/>
            <a:ext cx="800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 2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505575" y="1971675"/>
            <a:ext cx="56864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Cleaning &amp; Imputation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942975" y="226695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019175" y="2266950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Sample Scope: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Filtered nationwide PSLM 2019-20 microdata for </a:t>
            </a:r>
            <a:r>
              <a:rPr b="0" i="1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Punjab Province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and </a:t>
            </a:r>
            <a:r>
              <a:rPr b="0" i="1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Urban Cluster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codes.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942975" y="272415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019175" y="2724150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Analytical Value: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Evaluates city-level socio-economic structures, urban welfare, and regional infrastructure delivery.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600825" y="226695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677025" y="2266950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Missing Value Handling: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Applied median imputation to non-reported income and literacy response entries.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600825" y="272415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677025" y="2724150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Outlier Removal: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Filtered skewed economic records using Interquartile Range (IQR) thresholding.</a:t>
            </a:r>
            <a:endParaRPr/>
          </a:p>
        </p:txBody>
      </p:sp>
      <p:pic>
        <p:nvPicPr>
          <p:cNvPr id="125" name="Google Shape;125;p14" title="Screenshot 2026-10-26 2246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2675" y="3429000"/>
            <a:ext cx="485375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4" title="Screenshot 2026-10-26 22473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86250" y="3429000"/>
            <a:ext cx="4838700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609600" y="1438275"/>
            <a:ext cx="5314950" cy="4962525"/>
          </a:xfrm>
          <a:prstGeom prst="roundRect">
            <a:avLst>
              <a:gd fmla="val 230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6267450" y="1438275"/>
            <a:ext cx="5314950" cy="4962525"/>
          </a:xfrm>
          <a:prstGeom prst="roundRect">
            <a:avLst>
              <a:gd fmla="val 230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847725" y="1685925"/>
            <a:ext cx="895350" cy="219075"/>
          </a:xfrm>
          <a:prstGeom prst="roundRect">
            <a:avLst>
              <a:gd fmla="val 26086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6505575" y="1685925"/>
            <a:ext cx="904875" cy="219075"/>
          </a:xfrm>
          <a:prstGeom prst="roundRect">
            <a:avLst>
              <a:gd fmla="val 26086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5" name="Google Shape;13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4352925"/>
            <a:ext cx="48387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5575" y="4352925"/>
            <a:ext cx="4838700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609600" y="457200"/>
            <a:ext cx="51816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02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0725150" y="661987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03 / 04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09600" y="695325"/>
            <a:ext cx="667583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Demographics, Gender Parity &amp; Literacy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942975" y="1724025"/>
            <a:ext cx="800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 3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47725" y="1971675"/>
            <a:ext cx="63507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Demographics &amp; Gender Split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600825" y="1724025"/>
            <a:ext cx="8096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 4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505575" y="1971675"/>
            <a:ext cx="56864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Literacy &amp; Education Attainment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942975" y="226695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1019175" y="2266950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Gender Distribution: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Balanced representation of urban households across male and female respondents.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942975" y="272415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1019175" y="2724150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Gender Parity: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Urban Punjab shows narrowing gender disparities in basic education attendance vs. provincial baselines.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6600825" y="226695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6677025" y="2266950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Literacy Rate: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Significantly higher youth literacy levels driven by urban educational accessibility.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6600825" y="272415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6677025" y="2724150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Educational Tiering: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High primary completion with moderate transition rates to secondary and higher tertiary institutions.</a:t>
            </a:r>
            <a:endParaRPr/>
          </a:p>
        </p:txBody>
      </p:sp>
      <p:pic>
        <p:nvPicPr>
          <p:cNvPr id="152" name="Google Shape;152;p15" title="Screenshot 2026-10-26 2248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7750" y="3457575"/>
            <a:ext cx="48387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 title="Screenshot 2026-10-26 22484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5600" y="3429000"/>
            <a:ext cx="4838700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/>
          <p:nvPr/>
        </p:nvSpPr>
        <p:spPr>
          <a:xfrm>
            <a:off x="609600" y="1438275"/>
            <a:ext cx="5314950" cy="4962525"/>
          </a:xfrm>
          <a:prstGeom prst="roundRect">
            <a:avLst>
              <a:gd fmla="val 230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267450" y="1438275"/>
            <a:ext cx="5314950" cy="4962525"/>
          </a:xfrm>
          <a:prstGeom prst="roundRect">
            <a:avLst>
              <a:gd fmla="val 230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847725" y="1685925"/>
            <a:ext cx="895350" cy="219075"/>
          </a:xfrm>
          <a:prstGeom prst="roundRect">
            <a:avLst>
              <a:gd fmla="val 26086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6505575" y="1685925"/>
            <a:ext cx="895350" cy="219075"/>
          </a:xfrm>
          <a:prstGeom prst="roundRect">
            <a:avLst>
              <a:gd fmla="val 26086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2" name="Google Shape;1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4352925"/>
            <a:ext cx="48387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5575" y="4352925"/>
            <a:ext cx="4838700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609600" y="457200"/>
            <a:ext cx="64103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SECTION 03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0725150" y="661987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04 / 04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609600" y="695325"/>
            <a:ext cx="828853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Economic Metrics, ICT &amp; Policy Recommendations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942975" y="1724025"/>
            <a:ext cx="800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 5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847725" y="1971675"/>
            <a:ext cx="63507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Household Income &amp; Economic Variance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600825" y="1724025"/>
            <a:ext cx="800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 6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6505575" y="1971675"/>
            <a:ext cx="56864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ICT Penetration &amp; Policy Takeaway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942975" y="226695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1019175" y="2266950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Income Distribution: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Right-skewed monthly income distribution reflecting urban earning disparities.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942975" y="272415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1019175" y="2724150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Wealth Quartiles: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Moderate variance across middle-income brackets with concentrated top-tier urban earners.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6600825" y="226695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6677025" y="2266950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ICT Adoption: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High mobile device connectivity with expanding broadband internet access across Punjab Urban.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6600825" y="2724150"/>
            <a:ext cx="7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6677025" y="2724150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Action: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Prioritize digital literacy hubs and vocational skill centers in urban infrastructure planning.</a:t>
            </a:r>
            <a:endParaRPr/>
          </a:p>
        </p:txBody>
      </p:sp>
      <p:pic>
        <p:nvPicPr>
          <p:cNvPr id="179" name="Google Shape;179;p16" title="Screenshot 2026-10-26 22490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7750" y="3429000"/>
            <a:ext cx="483870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6" title="Screenshot 2026-10-26 22493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5600" y="3381375"/>
            <a:ext cx="483870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