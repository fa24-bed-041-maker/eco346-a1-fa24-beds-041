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</ns0:sldIdLst>
  <ns0:sldSz cx="12192000" cy="6858000" type="screen4x3"/>
  <ns0:notesSz cx="6858000" cy="9144000"/>
  <ns0:embeddedFontLst>
    <ns0:embeddedFont>
      <ns0:font typeface="JetBrains Mono"/>
      <ns0:bold ns1:id="rIdFont12"/>
      <ns0:regular ns1:id="rIdFont13"/>
    </ns0:embeddedFont>
    <ns0:embeddedFont>
      <ns0:font typeface="Plus Jakarta Sans"/>
      <ns0:bold ns1:id="rIdFont14"/>
      <ns0:regular ns1:id="rIdFont15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Font12" Type="http://schemas.openxmlformats.org/officeDocument/2006/relationships/font" Target="fonts/8ffb2035-5ac1-4a8f-bb4c-5c6fae35dc8b.fntdata" /><ns0:Relationship Id="rIdFont13" Type="http://schemas.openxmlformats.org/officeDocument/2006/relationships/font" Target="fonts/4704f971-fa63-4137-a83d-dff7ceb18b83.fntdata" /><ns0:Relationship Id="rIdFont14" Type="http://schemas.openxmlformats.org/officeDocument/2006/relationships/font" Target="fonts/778b8402-7abf-41e0-aa25-f683f50fa97d.fntdata" /><ns0:Relationship Id="rIdFont15" Type="http://schemas.openxmlformats.org/officeDocument/2006/relationships/font" Target="fonts/a53027f8-2ef2-4a0a-bc3e-73886d46cb3d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2056" y="2057400"/>
            <a:ext cx="2147887" cy="333375"/>
          </a:xfrm>
          <a:prstGeom prst="roundRect">
            <a:avLst>
              <a:gd name="adj" fmla="val 50000"/>
            </a:avLst>
          </a:prstGeom>
          <a:solidFill>
            <a:srgbClr val="13283F"/>
          </a:solidFill>
          <a:ln w="9525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43375" y="4029075"/>
            <a:ext cx="3905250" cy="771525"/>
          </a:xfrm>
          <a:prstGeom prst="roundRect">
            <a:avLst>
              <a:gd name="adj" fmla="val 14814"/>
            </a:avLst>
          </a:prstGeom>
          <a:solidFill>
            <a:srgbClr val="1B2538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267450" y="4229100"/>
            <a:ext cx="9525" cy="3714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925020" y="2114550"/>
            <a:ext cx="234195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ECO346 Assignment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26703" y="2619375"/>
            <a:ext cx="8738592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500"/>
              </a:lnSpc>
            </a:pPr>
            <a:r>
              <a:rPr b="1" sz="3750" i="0" u="none">
                <a:solidFill>
                  <a:srgbClr val="FFFFFF"/>
                </a:solidFill>
                <a:latin typeface="Plus Jakarta Sans"/>
              </a:rPr>
              <a:t>PSLM 2019-20 Data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7140" y="3381375"/>
            <a:ext cx="8417718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94A3B8"/>
                </a:solidFill>
                <a:latin typeface="Plus Jakarta Sans"/>
              </a:rPr>
              <a:t>Annual Earnings Distribution &amp; Age-Earnings Profile for Urban Punjab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5800" y="4229100"/>
            <a:ext cx="18335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REGISTRATION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5800" y="4381500"/>
            <a:ext cx="183356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JetBrains Mono"/>
              </a:rPr>
              <a:t>FA24-BEDS-041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4229100"/>
            <a:ext cx="14001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Plus Jakarta Sans"/>
              </a:rPr>
              <a:t>VARIANT FILTER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381500"/>
            <a:ext cx="14001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1F5F9"/>
                </a:solidFill>
                <a:latin typeface="Plus Jakarta Sans"/>
              </a:rPr>
              <a:t>Punjab Urban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58566"/>
            <a:ext cx="5334000" cy="1636216"/>
          </a:xfrm>
          <a:prstGeom prst="roundRect">
            <a:avLst>
              <a:gd name="adj" fmla="val 698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95587"/>
            <a:ext cx="5334000" cy="2162175"/>
          </a:xfrm>
          <a:prstGeom prst="roundRect">
            <a:avLst>
              <a:gd name="adj" fmla="val 528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24625" y="3462337"/>
            <a:ext cx="478155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24625" y="3900487"/>
            <a:ext cx="478155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24625" y="4338637"/>
            <a:ext cx="4781550" cy="34290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372891"/>
            <a:ext cx="19050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109912"/>
            <a:ext cx="21907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EXECUTIVE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Overview &amp; Repository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334791"/>
            <a:ext cx="6275784" cy="238125"/>
          </a:xfrm>
          <a:prstGeom prst="rect">
            <a:avLst/>
          </a:prstGeom>
          <a:noFill/>
        </p:spPr>
        <p:txBody>
          <a:bodyPr wrap="none" lIns="2857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Analysis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687216"/>
            <a:ext cx="48768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Replication and empirical analysis examining the annual earnings distribution and its relationship with age using the PSLM 2019-20 microdata for </a:t>
            </a:r>
            <a:r>
              <a:rPr b="1" sz="1200" i="0" u="none">
                <a:solidFill>
                  <a:srgbClr val="475569"/>
                </a:solidFill>
                <a:latin typeface="Plus Jakarta Sans"/>
              </a:rPr>
              <a:t>Urban Punjab</a:t>
            </a:r>
            <a:r>
              <a:rPr b="0" sz="120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3071812"/>
            <a:ext cx="5667375" cy="238125"/>
          </a:xfrm>
          <a:prstGeom prst="rect">
            <a:avLst/>
          </a:prstGeom>
          <a:noFill/>
        </p:spPr>
        <p:txBody>
          <a:bodyPr wrap="none" lIns="31432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Project Directory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3538537"/>
            <a:ext cx="4648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JetBrains Mono"/>
              </a:rPr>
              <a:t>data/</a:t>
            </a:r>
            <a:r>
              <a:rPr b="0" sz="1050" i="0" u="none">
                <a:solidFill>
                  <a:srgbClr val="334155"/>
                </a:solidFill>
                <a:latin typeface="JetBrains Mono"/>
              </a:rPr>
              <a:t> pslm_person_subset.csv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925" y="3976687"/>
            <a:ext cx="4648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JetBrains Mono"/>
              </a:rPr>
              <a:t>scripts/</a:t>
            </a:r>
            <a:r>
              <a:rPr b="0" sz="1050" i="0" u="none">
                <a:solidFill>
                  <a:srgbClr val="334155"/>
                </a:solidFill>
                <a:latin typeface="JetBrains Mono"/>
              </a:rPr>
              <a:t> 01_distribution.R, 02_relationship.R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4414837"/>
            <a:ext cx="46482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JetBrains Mono"/>
              </a:rPr>
              <a:t>figures/</a:t>
            </a:r>
            <a:r>
              <a:rPr b="0" sz="1050" i="0" u="none">
                <a:solidFill>
                  <a:srgbClr val="334155"/>
                </a:solidFill>
                <a:latin typeface="JetBrains Mono"/>
              </a:rPr>
              <a:t> distribution.svg, relationship.svg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2275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62275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62275"/>
            <a:ext cx="35052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700" y="3228975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3228975"/>
            <a:ext cx="3810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0" y="3228975"/>
            <a:ext cx="3429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QUESTION 2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Earnings Distribution Metrics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150" y="3228975"/>
            <a:ext cx="38481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EF4444"/>
                </a:solidFill>
                <a:latin typeface="Plus Jakarta Sans"/>
              </a:rPr>
              <a:t>Excluded 25 (&lt;10k or &gt;10m)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71950" y="3228975"/>
            <a:ext cx="38481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Unweighted: PKR 288,000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0" y="3228975"/>
            <a:ext cx="3848100" cy="1295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64748B"/>
                </a:solidFill>
                <a:latin typeface="Plus Jakarta Sans"/>
              </a:rPr>
              <a:t>P90: 825k | P10: 120k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956" y="3648075"/>
            <a:ext cx="390048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Plus Jakarta Sans"/>
              </a:rPr>
              <a:t>3,743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" y="4114800"/>
            <a:ext cx="3714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Plus Jakarta Sans"/>
              </a:rPr>
              <a:t>Valid Earners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45756" y="3648075"/>
            <a:ext cx="390048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F172A"/>
                </a:solidFill>
                <a:latin typeface="Plus Jakarta Sans"/>
              </a:rPr>
              <a:t>PKR 300k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8625" y="4114800"/>
            <a:ext cx="3714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Plus Jakarta Sans"/>
              </a:rPr>
              <a:t>Weighted Median Earnings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9556" y="3648075"/>
            <a:ext cx="3900487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700" i="0" u="none">
                <a:solidFill>
                  <a:srgbClr val="0284C7"/>
                </a:solidFill>
                <a:latin typeface="Plus Jakarta Sans"/>
              </a:rPr>
              <a:t>6.88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72425" y="4114800"/>
            <a:ext cx="37147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125" i="0" u="none">
                <a:solidFill>
                  <a:srgbClr val="64748B"/>
                </a:solidFill>
                <a:latin typeface="Plus Jakarta Sans"/>
              </a:rPr>
              <a:t>90/10 Earnings Ratio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943100"/>
          <a:ext cx="10972798" cy="36861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94470"/>
                <a:gridCol w="1690836"/>
                <a:gridCol w="2788146"/>
                <a:gridCol w="4299346"/>
              </a:tblGrid>
              <a:tr h="33510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Age Band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Midpoint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Number of Earners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Weighted Mean Earnings (PKR)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3510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15-19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142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145,210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10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20-24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215,600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510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25-29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512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284C7"/>
                          </a:solidFill>
                          <a:latin typeface="Plus Jakarta Sans"/>
                        </a:rPr>
                        <a:t>302,450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10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30-34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520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368,900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510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35-39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505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412,300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10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40-44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448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445,100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510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45-49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392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465,210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106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50-54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310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498,500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35106"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55-59 (Peak)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57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265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050" i="0" u="none">
                          <a:solidFill>
                            <a:srgbClr val="0369A1"/>
                          </a:solidFill>
                          <a:latin typeface="Plus Jakarta Sans"/>
                        </a:rPr>
                        <a:t>533,751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F2FE"/>
                    </a:solidFill>
                  </a:tcPr>
                </a:tc>
              </a:tr>
              <a:tr h="335115"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60-64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62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264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05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485,300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3810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QUESTION 3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09600"/>
            <a:ext cx="1158240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Plus Jakarta Sans"/>
              </a:rPr>
              <a:t>Age-Earnings Profile &amp; Band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62650"/>
            <a:ext cx="10972800" cy="438150"/>
          </a:xfrm>
          <a:prstGeom prst="roundRect">
            <a:avLst>
              <a:gd name="adj" fmla="val 8695"/>
            </a:avLst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26543"/>
            <a:ext cx="3505200" cy="1433512"/>
          </a:xfrm>
          <a:prstGeom prst="roundRect">
            <a:avLst>
              <a:gd name="adj" fmla="val 5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826543"/>
            <a:ext cx="3505200" cy="1433512"/>
          </a:xfrm>
          <a:prstGeom prst="roundRect">
            <a:avLst>
              <a:gd name="adj" fmla="val 5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826543"/>
            <a:ext cx="3505200" cy="1433512"/>
          </a:xfrm>
          <a:prstGeom prst="roundRect">
            <a:avLst>
              <a:gd name="adj" fmla="val 5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5962650"/>
            <a:ext cx="38100" cy="4381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826543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2826543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77200" y="2826543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QUESTION 4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Visualization Makeover Core Principles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6096000"/>
            <a:ext cx="113538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C2410C"/>
                </a:solidFill>
                <a:latin typeface="Plus Jakarta Sans"/>
              </a:rPr>
              <a:t>Analytical Trade-off:</a:t>
            </a:r>
            <a:r>
              <a:rPr b="0" sz="1050" i="0" u="none">
                <a:solidFill>
                  <a:srgbClr val="C2410C"/>
                </a:solidFill>
                <a:latin typeface="Plus Jakarta Sans"/>
              </a:rPr>
              <a:t> Redesign prioritizes macro-level trends and conditional means while smoothing over individual micro-level extreme income outliers.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093243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Overplotting Mitigation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388518"/>
            <a:ext cx="31432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Replaced dense black points with semi-transparent, horizontally jittered points to clearly reveal data density.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093243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Logarithmic Scaling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8518"/>
            <a:ext cx="31432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Applied a log10 transformation to annual earnings to normalize heavily right-skewed income distribution.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093243"/>
            <a:ext cx="388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Data-Ink Maximization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388518"/>
            <a:ext cx="31432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Connected weighted mean age-band markers to emphasize the macro age-earnings profile without visual clutter.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